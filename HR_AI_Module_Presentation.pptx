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004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HR AI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CCFF"/>
                </a:solidFill>
                <a:latin typeface="Calibri"/>
              </a:defRPr>
            </a:pPr>
            <a:r>
              <a:t>Интеллектуальное управление целями сотрудников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2743200" cy="45720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  <a:defRPr sz="1800" b="0">
                <a:solidFill>
                  <a:srgbClr val="CCDDFF"/>
                </a:solidFill>
                <a:latin typeface="Calibri"/>
              </a:defRPr>
            </a:pPr>
            <a:r>
              <a:t>Команда: SilkRoadTech</a:t>
            </a:r>
          </a:p>
          <a:p>
            <a:pPr>
              <a:spcAft>
                <a:spcPts val="1620"/>
              </a:spcAft>
              <a:defRPr sz="1800" b="0">
                <a:solidFill>
                  <a:srgbClr val="CCDDFF"/>
                </a:solidFill>
                <a:latin typeface="Calibri"/>
              </a:defRPr>
            </a:pPr>
            <a:r>
              <a:t>Хакатон КМГ-КУМКОЛЬ  |  Март 2026</a:t>
            </a:r>
          </a:p>
          <a:p>
            <a:pPr>
              <a:spcAft>
                <a:spcPts val="1620"/>
              </a:spcAft>
              <a:defRPr sz="1800" b="0">
                <a:solidFill>
                  <a:srgbClr val="CCDDFF"/>
                </a:solidFill>
                <a:latin typeface="Calibri"/>
              </a:defRPr>
            </a:pPr>
            <a:r>
              <a:t>AI-модуль для оценки, генерации и управления целями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657600" cy="4114800"/>
          </a:xfrm>
          <a:prstGeom prst="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5200"/>
              </a:spcBef>
              <a:defRPr sz="1400">
                <a:solidFill>
                  <a:srgbClr val="999999"/>
                </a:solidFill>
              </a:defRPr>
            </a:pPr>
            <a:r>
              <a:t>[ Скриншот главной страницы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Почему HR-процессы нуждаются в автоматизации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60604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864" cy="2926080"/>
          </a:xfrm>
          <a:prstGeom prst="rect">
            <a:avLst/>
          </a:prstGeom>
          <a:solidFill>
            <a:srgbClr val="E0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3E2D"/>
                </a:solidFill>
                <a:latin typeface="Calibri"/>
              </a:defRPr>
            </a:pPr>
            <a:r>
              <a:t>Низкое качество целей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70% целей не соответствуют SMART-критериям</a:t>
            </a:r>
          </a:p>
          <a:p>
            <a:pPr>
              <a:spcAft>
                <a:spcPts val="719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Субъективная оценка без единых стандартов</a:t>
            </a:r>
          </a:p>
          <a:p>
            <a:pPr>
              <a:spcAft>
                <a:spcPts val="719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Размытые формулировки без метрик и сроков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60604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463040"/>
            <a:ext cx="54864" cy="2926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6002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Ручные процессы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96596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Согласование целей занимает недели</a:t>
            </a:r>
          </a:p>
          <a:p>
            <a:pPr>
              <a:spcAft>
                <a:spcPts val="719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Нет прозрачности в workflow</a:t>
            </a:r>
          </a:p>
          <a:p>
            <a:pPr>
              <a:spcAft>
                <a:spcPts val="719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Потеря целей между статусами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60604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54864" cy="292608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002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5BAA"/>
                </a:solidFill>
                <a:latin typeface="Calibri"/>
              </a:defRPr>
            </a:pPr>
            <a:r>
              <a:t>Отсутствие аналитики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Нет агрегированных данных по организации</a:t>
            </a:r>
          </a:p>
          <a:p>
            <a:pPr>
              <a:spcAft>
                <a:spcPts val="719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Невозможно выявить слабые подразделения</a:t>
            </a:r>
          </a:p>
          <a:p>
            <a:pPr>
              <a:spcAft>
                <a:spcPts val="719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Отсутствует предиктивная аналитика рисков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463040"/>
            <a:ext cx="260604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463040"/>
            <a:ext cx="54864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6002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3366"/>
                </a:solidFill>
                <a:latin typeface="Calibri"/>
              </a:defRPr>
            </a:pPr>
            <a:r>
              <a:t>Разрыв стратегии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96596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Цели не связаны со стратегией компании</a:t>
            </a:r>
          </a:p>
          <a:p>
            <a:pPr>
              <a:spcAft>
                <a:spcPts val="719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Нет каскадирования от руководителей</a:t>
            </a:r>
          </a:p>
          <a:p>
            <a:pPr>
              <a:spcAft>
                <a:spcPts val="719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Сложно отследить стратегическое покрытие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3E2D"/>
                </a:solidFill>
                <a:latin typeface="Calibri"/>
              </a:defRPr>
            </a:pPr>
            <a:r>
              <a:t>Результат: снижение эффективности, демотивация сотрудников, невозможность стратегического планирования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Наше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AI-платформа для управления целями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74720" cy="20116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474720" cy="54864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BAA"/>
                </a:solidFill>
                <a:latin typeface="Calibri"/>
              </a:defRPr>
            </a:pPr>
            <a:r>
              <a:t>SMART-оценка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AI-анализ целей по 5 критериям с рекомендациями по улучшению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463040"/>
            <a:ext cx="3474720" cy="20116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463040"/>
            <a:ext cx="3474720" cy="54864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65A"/>
                </a:solidFill>
                <a:latin typeface="Calibri"/>
              </a:defRPr>
            </a:pPr>
            <a:r>
              <a:t>RAG-генерация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103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Генерация целей на основе внутренних документов компании (ВНД)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463040"/>
            <a:ext cx="3474720" cy="20116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463040"/>
            <a:ext cx="34747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103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Полный цикл: черновик → согласование → выполнение → архив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3474720" cy="20116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3474720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Calibri"/>
              </a:defRPr>
            </a:pPr>
            <a:r>
              <a:t>Аналитика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Дашборд с индексом зрелости, трендами и heatmap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3840480"/>
            <a:ext cx="3474720" cy="20116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79" y="3840480"/>
            <a:ext cx="3474720" cy="54864"/>
          </a:xfrm>
          <a:prstGeom prst="rect">
            <a:avLst/>
          </a:prstGeom>
          <a:solidFill>
            <a:srgbClr val="E0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3E2D"/>
                </a:solidFill>
                <a:latin typeface="Calibri"/>
              </a:defRPr>
            </a:pPr>
            <a:r>
              <a:t>Предсказание рисков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4805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Прогнозирование провала целей по 5 факторам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19" y="3840480"/>
            <a:ext cx="3474720" cy="20116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9" y="384048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9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Каскадирование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44805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Автоматический спуск целей от руководителей к подчинённым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Технологический стек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React 18 + Vite + Tailwind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FastAPI + SQLAlchemy 2.0 + Pydantic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A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PostgreSQL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A"/>
                </a:solidFill>
                <a:latin typeface="Calibri"/>
              </a:defRPr>
            </a:pPr>
            <a:r>
              <a:t>Vector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ChromaDB (RAG-поиск)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A"/>
                </a:solidFill>
                <a:latin typeface="Calibri"/>
              </a:defRPr>
            </a:pPr>
            <a:r>
              <a:t>AI/LLM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OpenAI GPT-4o + text-embedding-3-small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A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JWT (access + refresh tokens)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A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Docker Compose + Caddy + Vercel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A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212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GitHub Actions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1371600"/>
            <a:ext cx="4754880" cy="4572000"/>
          </a:xfrm>
          <a:prstGeom prst="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7000"/>
              </a:spcBef>
              <a:defRPr sz="1400">
                <a:solidFill>
                  <a:srgbClr val="999999"/>
                </a:solidFill>
              </a:defRPr>
            </a:pPr>
            <a:r>
              <a:t>[ Схема архитектуры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SMART-оценка целей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Семантический анализ на базе GPT-4o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Оценка каждой цели по 5 критериям (S-M-A-R-T)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Каждый критерий оценивается от 0 до 1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Пороги: Низкий (&lt;0.5), Средний (0.5-0.7), Высокий (&gt;0.85)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Пакетная оценка всех целей сотрудника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Переформулирование: AI предлагает улучшенный текст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Fallback: семантические эвристики без LLM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80+ паттернов ключевых слов для heuristics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7000"/>
              </a:spcBef>
              <a:defRPr sz="1400">
                <a:solidFill>
                  <a:srgbClr val="999999"/>
                </a:solidFill>
              </a:defRPr>
            </a:pPr>
            <a:r>
              <a:t>[ Скриншот SMART-оценки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RAG-генерация целей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Генерация на основе внутренних документов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79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Гибридный поиск: векторный (cosine) + лексический с RRF</a:t>
            </a:r>
          </a:p>
          <a:p>
            <a:pPr>
              <a:spcAft>
                <a:spcPts val="979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160+ документов: ВНД, стратегии, KPI-фреймворки</a:t>
            </a:r>
          </a:p>
          <a:p>
            <a:pPr>
              <a:spcAft>
                <a:spcPts val="979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Генерация 3-5 целей за запрос</a:t>
            </a:r>
          </a:p>
          <a:p>
            <a:pPr>
              <a:spcAft>
                <a:spcPts val="979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Указание источника: документ + фрагмент + обоснование</a:t>
            </a:r>
          </a:p>
          <a:p>
            <a:pPr>
              <a:spcAft>
                <a:spcPts val="979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Дедупликация с существующими целями</a:t>
            </a:r>
          </a:p>
          <a:p>
            <a:pPr>
              <a:spcAft>
                <a:spcPts val="979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Фокус-области для направленной генерации</a:t>
            </a:r>
          </a:p>
          <a:p>
            <a:pPr>
              <a:spcAft>
                <a:spcPts val="979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Каскадирование целей руководителя</a:t>
            </a:r>
          </a:p>
          <a:p>
            <a:pPr>
              <a:spcAft>
                <a:spcPts val="979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Учёт истории достижимости сотрудника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7000"/>
              </a:spcBef>
              <a:defRPr sz="1400">
                <a:solidFill>
                  <a:srgbClr val="999999"/>
                </a:solidFill>
              </a:defRPr>
            </a:pPr>
            <a:r>
              <a:t>[ Скриншот генерации целей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Workflow согласования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Полный жизненный цикл цели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554480" cy="914400"/>
          </a:xfrm>
          <a:prstGeom prst="round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Черновик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828800"/>
            <a:ext cx="1554480" cy="914400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Активная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1554480" cy="9144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На</a:t>
            </a:r>
            <a:br/>
            <a:r>
              <a:t>согласовании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1554480" cy="914400"/>
          </a:xfrm>
          <a:prstGeom prst="round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Одобрена /</a:t>
            </a:r>
            <a:br/>
            <a:r>
              <a:t>Отклонена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1554480" cy="9144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В работе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1828800"/>
            <a:ext cx="1554480" cy="914400"/>
          </a:xfrm>
          <a:prstGeom prst="round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Выполнена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Полный аудит-трейл: GoalEvent + GoalReview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Действия: отправить, одобрить, отклонить, комментировать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История рецензий с вердиктами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Автоматические алерты при застое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017520"/>
            <a:ext cx="5303520" cy="3200400"/>
          </a:xfrm>
          <a:prstGeom prst="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1600"/>
              </a:spcBef>
              <a:defRPr sz="1400">
                <a:solidFill>
                  <a:srgbClr val="999999"/>
                </a:solidFill>
              </a:defRPr>
            </a:pPr>
            <a:r>
              <a:t>[ Скриншот Workflow / Approvals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Аналитика и дашборд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5-факторный индекс зрелости организации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36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SMART-фактор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Средний балл SMART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762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Стратегический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77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% стратегических целей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163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Типовой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% результатных + влияния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83279"/>
            <a:ext cx="457200" cy="45720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56431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3832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Весовой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65759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Баланс весов (идеал — 100%)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96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Количественный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% сотрудников с 3-5 целями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46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Heatmap подразделений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Квартальные тренды (SMART + стратегия)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Бенчмарк отделов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1371600"/>
            <a:ext cx="5760720" cy="5029200"/>
          </a:xfrm>
          <a:prstGeom prst="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8800"/>
              </a:spcBef>
              <a:defRPr sz="1400">
                <a:solidFill>
                  <a:srgbClr val="999999"/>
                </a:solidFill>
              </a:defRPr>
            </a:pPr>
            <a:r>
              <a:t>[ Скриншот дашборда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Предсказание рисков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Статистическая модель + LLM-объяснение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011680" cy="1371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011680" cy="4572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A"/>
                </a:solidFill>
                <a:latin typeface="Calibri"/>
              </a:defRPr>
            </a:pPr>
            <a:r>
              <a:t>SMART-качество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Вес: 20%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463040"/>
            <a:ext cx="2011680" cy="1371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88920" y="1463040"/>
            <a:ext cx="201168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645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Кол-во отклонений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03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Вес: 20%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463040"/>
            <a:ext cx="2011680" cy="1371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463040"/>
            <a:ext cx="2011680" cy="45720"/>
          </a:xfrm>
          <a:prstGeom prst="rect">
            <a:avLst/>
          </a:prstGeom>
          <a:solidFill>
            <a:srgbClr val="E0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1645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3E2D"/>
                </a:solidFill>
                <a:latin typeface="Calibri"/>
              </a:defRPr>
            </a:pPr>
            <a:r>
              <a:t>Стагнация статуса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103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Вес: 20%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1463040"/>
            <a:ext cx="2011680" cy="1371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80" y="1463040"/>
            <a:ext cx="20116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645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Давление дедлайна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103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Вес: 25%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1463040"/>
            <a:ext cx="2011680" cy="1371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09760" y="1463040"/>
            <a:ext cx="201168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20" y="1645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История отдела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103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Вес: 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Уровни риска: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657600"/>
            <a:ext cx="2286000" cy="640080"/>
          </a:xfrm>
          <a:prstGeom prst="roundRect">
            <a:avLst/>
          </a:prstGeom>
          <a:solidFill>
            <a:srgbClr val="E0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Высокий  (&gt; 0.7)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3657600"/>
            <a:ext cx="2286000" cy="6400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Средний  (0.4 — 0.7)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657600"/>
            <a:ext cx="2286000" cy="640080"/>
          </a:xfrm>
          <a:prstGeom prst="round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Низкий  (&lt; 0.4)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72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LLM генерирует понятное объяснение рисков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Рекомендации по снижению рисков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200400"/>
            <a:ext cx="5303520" cy="3200400"/>
          </a:xfrm>
          <a:prstGeom prst="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1600"/>
              </a:spcBef>
              <a:defRPr sz="1400">
                <a:solidFill>
                  <a:srgbClr val="999999"/>
                </a:solidFill>
              </a:defRPr>
            </a:pPr>
            <a:r>
              <a:t>[ Скриншот предсказания рисков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Каскадирование и граф зависимостей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Связь целей по вертикали и горизонтали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5BAA"/>
                </a:solidFill>
                <a:latin typeface="Calibri"/>
              </a:defRPr>
            </a:pPr>
            <a:r>
              <a:t>Каскадирование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Автоматический спуск целей руководителя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Превью каскадированных целей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Обнаружение конфликтов и дубликатов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Кастомизация целей для каждого отдела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65A"/>
                </a:solidFill>
                <a:latin typeface="Calibri"/>
              </a:defRPr>
            </a:pPr>
            <a:r>
              <a:t>Граф зависимостей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Интерактивная визуализация (force-graph)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Типы связей: blocks, depends_on, related_to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AI-рекомендации зависимостей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Обнаружение циклических зависимостей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8800"/>
              </a:spcBef>
              <a:defRPr sz="1400">
                <a:solidFill>
                  <a:srgbClr val="999999"/>
                </a:solidFill>
              </a:defRPr>
            </a:pPr>
            <a:r>
              <a:t>[ Скриншот каскадирования / графа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Алерты и интеграции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Проактивный мониторинг и экспорт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3E2D"/>
                </a:solidFill>
                <a:latin typeface="Calibri"/>
              </a:defRPr>
            </a:pPr>
            <a:r>
              <a:t>Система алертов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Низкий SMART-индекс</a:t>
            </a:r>
          </a:p>
          <a:p>
            <a:pPr>
              <a:spcAft>
                <a:spcPts val="91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Слабая стратегическая связь</a:t>
            </a:r>
          </a:p>
          <a:p>
            <a:pPr>
              <a:spcAft>
                <a:spcPts val="91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Отсутствие измеримых критериев</a:t>
            </a:r>
          </a:p>
          <a:p>
            <a:pPr>
              <a:spcAft>
                <a:spcPts val="91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Просроченные дедлайны</a:t>
            </a:r>
          </a:p>
          <a:p>
            <a:pPr>
              <a:spcAft>
                <a:spcPts val="91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Дисбаланс портфеля целей</a:t>
            </a:r>
          </a:p>
          <a:p>
            <a:pPr>
              <a:spcAft>
                <a:spcPts val="91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Стагнация в согласовании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5BAA"/>
                </a:solidFill>
                <a:latin typeface="Calibri"/>
              </a:defRPr>
            </a:pPr>
            <a:r>
              <a:t>HR-интеграции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1С:ЗУП — экспорт целей в формате 1С</a:t>
            </a:r>
          </a:p>
          <a:p>
            <a:pPr>
              <a:spcAft>
                <a:spcPts val="91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SAP SuccessFactors — синхронизация</a:t>
            </a:r>
          </a:p>
          <a:p>
            <a:pPr>
              <a:spcAft>
                <a:spcPts val="91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Oracle HCM — двусторонний обмен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8800"/>
              </a:spcBef>
              <a:defRPr sz="1400">
                <a:solidFill>
                  <a:srgbClr val="999999"/>
                </a:solidFill>
              </a:defRPr>
            </a:pPr>
            <a:r>
              <a:t>[ Скриншот алертов / интеграций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1-on-1 встречи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Автоматическая повестка для руководителя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 Генерация повестки для встречи руководитель — сотрудник</a:t>
            </a:r>
          </a:p>
          <a:p>
            <a:pPr>
              <a:spcAft>
                <a:spcPts val="144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 Цели, требующие обсуждения</a:t>
            </a:r>
          </a:p>
          <a:p>
            <a:pPr>
              <a:spcAft>
                <a:spcPts val="144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 Цели в зоне риска</a:t>
            </a:r>
          </a:p>
          <a:p>
            <a:pPr>
              <a:spcAft>
                <a:spcPts val="144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 Тренды производительности</a:t>
            </a:r>
          </a:p>
          <a:p>
            <a:pPr>
              <a:spcAft>
                <a:spcPts val="144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 Рекомендации по корректировке целей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7000"/>
              </a:spcBef>
              <a:defRPr sz="1400">
                <a:solidFill>
                  <a:srgbClr val="999999"/>
                </a:solidFill>
              </a:defRPr>
            </a:pPr>
            <a:r>
              <a:t>[ Скриншот 1-on-1 повестки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Демо-данные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Масштаб и реалистичность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2926080" cy="1828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2926080" cy="54864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5BAA"/>
                </a:solidFill>
                <a:latin typeface="Calibri"/>
              </a:defRPr>
            </a:pPr>
            <a:r>
              <a:t>450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Calibri"/>
              </a:defRPr>
            </a:pPr>
            <a:r>
              <a:t>Сотрудников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2926080" cy="1828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2926080" cy="54864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920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A65A"/>
                </a:solidFill>
                <a:latin typeface="Calibri"/>
              </a:defRPr>
            </a:pPr>
            <a:r>
              <a:t>9 000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Calibri"/>
              </a:defRPr>
            </a:pPr>
            <a:r>
              <a:t>Целей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645920"/>
            <a:ext cx="2926080" cy="1828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645920"/>
            <a:ext cx="29260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920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8C0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Calibri"/>
              </a:defRPr>
            </a:pPr>
            <a:r>
              <a:t>Подразделений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931920"/>
            <a:ext cx="2926080" cy="1828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931920"/>
            <a:ext cx="2926080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06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  <a:latin typeface="Calibri"/>
              </a:defRPr>
            </a:pPr>
            <a:r>
              <a:t>160+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Calibri"/>
              </a:defRPr>
            </a:pPr>
            <a:r>
              <a:t>Документов (ВНД)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931920"/>
            <a:ext cx="2926080" cy="1828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931920"/>
            <a:ext cx="29260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4206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CF6"/>
                </a:solidFill>
                <a:latin typeface="Calibri"/>
              </a:defRPr>
            </a:pPr>
            <a:r>
              <a:t>30 789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029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Calibri"/>
              </a:defRPr>
            </a:pPr>
            <a:r>
              <a:t>Событий аудита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3931920"/>
            <a:ext cx="2926080" cy="1828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3931920"/>
            <a:ext cx="2926080" cy="54864"/>
          </a:xfrm>
          <a:prstGeom prst="rect">
            <a:avLst/>
          </a:prstGeom>
          <a:solidFill>
            <a:srgbClr val="E0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4206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03E2D"/>
                </a:solidFill>
                <a:latin typeface="Calibri"/>
              </a:defRPr>
            </a:pPr>
            <a:r>
              <a:t>4 305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029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Calibri"/>
              </a:defRPr>
            </a:pPr>
            <a:r>
              <a:t>Рецензий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Работа без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Graceful degradation — система работает и без OpenAI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3200400" cy="54864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Функция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200400" cy="54864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719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С LLM (GPT-4o)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645920"/>
            <a:ext cx="3200400" cy="54864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719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Без LLM (Fallback)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86000"/>
            <a:ext cx="3200400" cy="5486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957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SMART-оценка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286000"/>
            <a:ext cx="3200400" cy="5486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3957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Детальный AI-анализ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286000"/>
            <a:ext cx="3200400" cy="5486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3957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Эвристики (80+ паттернов)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926080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0358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RAG-поиск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926080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0358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Гибридный (вектор + лексика)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2926080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30358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Только лексический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566160"/>
            <a:ext cx="3200400" cy="5486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6758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Генерация целей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566160"/>
            <a:ext cx="3200400" cy="5486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6758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LLM-синтез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3566160"/>
            <a:ext cx="3200400" cy="5486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36758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Заголовки из документов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206240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3159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Объяснение рисков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4206240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3159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LLM-нарратив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4206240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43159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Список факторов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65A"/>
                </a:solidFill>
                <a:latin typeface="Calibri"/>
              </a:defRPr>
            </a:pPr>
            <a:r>
              <a:t>Система деградирует плавно — пользователь всегда получает результат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Развёртывание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Docker Compose +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 Frontend: Vercel (автодеплой)</a:t>
            </a:r>
          </a:p>
          <a:p>
            <a:pPr>
              <a:spcAft>
                <a:spcPts val="144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 Backend: Docker на сервере + Caddy reverse proxy</a:t>
            </a:r>
          </a:p>
          <a:p>
            <a:pPr>
              <a:spcAft>
                <a:spcPts val="144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 CI/CD: GitHub Actions (push to main → auto-deploy)</a:t>
            </a:r>
          </a:p>
          <a:p>
            <a:pPr>
              <a:spcAft>
                <a:spcPts val="144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 PostgreSQL 18 + ChromaDB (persistent volumes)</a:t>
            </a:r>
          </a:p>
          <a:p>
            <a:pPr>
              <a:spcAft>
                <a:spcPts val="144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 Health-check эндпоинт: /health</a:t>
            </a:r>
          </a:p>
          <a:p>
            <a:pPr>
              <a:spcAft>
                <a:spcPts val="144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 Swagger документация: /docs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BAA"/>
                </a:solidFill>
                <a:latin typeface="Calibri"/>
              </a:defRPr>
            </a:pPr>
            <a:r>
              <a:t>Демо: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https://hr-kmg.silkroadtech.kz/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API: https://hr-ai.sh7dzn.me/docs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7000"/>
              </a:spcBef>
              <a:defRPr sz="1400">
                <a:solidFill>
                  <a:srgbClr val="999999"/>
                </a:solidFill>
              </a:defRPr>
            </a:pPr>
            <a:r>
              <a:t>[ Скриншот CI/CD / Docker 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Результаты и эффект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  <a:latin typeface="Calibri"/>
              </a:defRPr>
            </a:pPr>
            <a:r>
              <a:t>Что даёт внедрение HR AI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74720" cy="20116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864" cy="201168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5BAA"/>
                </a:solidFill>
                <a:latin typeface="Calibri"/>
              </a:defRPr>
            </a:pPr>
            <a:r>
              <a:t>Скорость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Оценка цели за секунды вместо часов ручной работы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463040"/>
            <a:ext cx="3474720" cy="20116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463040"/>
            <a:ext cx="54864" cy="2011680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65A"/>
                </a:solidFill>
                <a:latin typeface="Calibri"/>
              </a:defRPr>
            </a:pPr>
            <a:r>
              <a:t>Качество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1945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SMART-анализ повышает качество формулировок на 40%+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463040"/>
            <a:ext cx="3474720" cy="20116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463040"/>
            <a:ext cx="54864" cy="20116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Прозрачность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1945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Полный аудит-трейл и прозрачный 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3474720" cy="20116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54864" cy="2011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Стратегия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72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Каскадирование обеспечивает связь целей со стратегией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3840480"/>
            <a:ext cx="3474720" cy="20116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79" y="3840480"/>
            <a:ext cx="54864" cy="2011680"/>
          </a:xfrm>
          <a:prstGeom prst="rect">
            <a:avLst/>
          </a:prstGeom>
          <a:solidFill>
            <a:srgbClr val="E0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79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3E2D"/>
                </a:solidFill>
                <a:latin typeface="Calibri"/>
              </a:defRPr>
            </a:pPr>
            <a:r>
              <a:t>Предиктивность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4572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Раннее выявление рисков до наступления дедлайна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19" y="3840480"/>
            <a:ext cx="3474720" cy="20116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9" y="3840480"/>
            <a:ext cx="54864" cy="2011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9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Масштаб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4572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Готовность к работе с 450+ сотрудниками и 9000+ целями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004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Спасибо!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2743200" cy="45720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0">
                <a:solidFill>
                  <a:srgbClr val="CCDDFF"/>
                </a:solidFill>
                <a:latin typeface="Calibri"/>
              </a:defRPr>
            </a:pPr>
            <a:r>
              <a:t>Команда: SilkRoadTech</a:t>
            </a:r>
          </a:p>
          <a:p>
            <a:pPr>
              <a:spcAft>
                <a:spcPts val="1500"/>
              </a:spcAft>
              <a:defRPr sz="2000" b="0">
                <a:solidFill>
                  <a:srgbClr val="CCDDFF"/>
                </a:solidFill>
                <a:latin typeface="Calibri"/>
              </a:defRPr>
            </a:pPr>
            <a:r>
              <a:t>Проект: HR AI Module</a:t>
            </a:r>
          </a:p>
          <a:p>
            <a:pPr>
              <a:spcAft>
                <a:spcPts val="1500"/>
              </a:spcAft>
              <a:defRPr sz="2000" b="0">
                <a:solidFill>
                  <a:srgbClr val="CCDDFF"/>
                </a:solidFill>
                <a:latin typeface="Calibri"/>
              </a:defRPr>
            </a:pPr>
            <a:r>
              <a:t>Демо: hr-kmg.silkroadtech.kz</a:t>
            </a:r>
          </a:p>
          <a:p>
            <a:pPr>
              <a:spcAft>
                <a:spcPts val="1500"/>
              </a:spcAft>
              <a:defRPr sz="2000" b="0">
                <a:solidFill>
                  <a:srgbClr val="CCDDFF"/>
                </a:solidFill>
                <a:latin typeface="Calibri"/>
              </a:defRPr>
            </a:pPr>
          </a:p>
          <a:p>
            <a:pPr>
              <a:spcAft>
                <a:spcPts val="1500"/>
              </a:spcAft>
              <a:defRPr sz="2000" b="0">
                <a:solidFill>
                  <a:srgbClr val="CCDDFF"/>
                </a:solidFill>
                <a:latin typeface="Calibri"/>
              </a:defRPr>
            </a:pPr>
            <a:r>
              <a:t>Готовы к вопросам!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371600"/>
            <a:ext cx="3657600" cy="4114800"/>
          </a:xfrm>
          <a:prstGeom prst="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5200"/>
              </a:spcBef>
              <a:defRPr sz="1400">
                <a:solidFill>
                  <a:srgbClr val="999999"/>
                </a:solidFill>
              </a:defRPr>
            </a:pPr>
            <a:r>
              <a:t>[ Логотип / QR-код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